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ar_Title"/>
          <p:cNvSpPr txBox="1"/>
          <p:nvPr/>
        </p:nvSpPr>
        <p:spPr>
          <a:xfrm>
            <a:off x="0" y="0"/>
            <a:ext cx="43891200" cy="4577852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" name="var_Introduction"/>
          <p:cNvSpPr txBox="1"/>
          <p:nvPr/>
        </p:nvSpPr>
        <p:spPr>
          <a:xfrm>
            <a:off x="0" y="4577852"/>
            <a:ext cx="21160415" cy="4862495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4" name="var_Content"/>
          <p:cNvSpPr txBox="1"/>
          <p:nvPr/>
        </p:nvSpPr>
        <p:spPr>
          <a:xfrm>
            <a:off x="0" y="5894588"/>
            <a:ext cx="21160415" cy="3545759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5" name="var_Model_Architecture"/>
          <p:cNvSpPr txBox="1"/>
          <p:nvPr/>
        </p:nvSpPr>
        <p:spPr>
          <a:xfrm>
            <a:off x="0" y="9440347"/>
            <a:ext cx="21160415" cy="23478052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6" name="var_Encoder_and_Decoder_Stacks"/>
          <p:cNvSpPr txBox="1"/>
          <p:nvPr/>
        </p:nvSpPr>
        <p:spPr>
          <a:xfrm>
            <a:off x="0" y="10757083"/>
            <a:ext cx="9207910" cy="15293603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7" name="var_Content"/>
          <p:cNvSpPr txBox="1"/>
          <p:nvPr/>
        </p:nvSpPr>
        <p:spPr>
          <a:xfrm>
            <a:off x="0" y="11781211"/>
            <a:ext cx="9207910" cy="14269475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8" name="var_Attention"/>
          <p:cNvSpPr txBox="1"/>
          <p:nvPr/>
        </p:nvSpPr>
        <p:spPr>
          <a:xfrm>
            <a:off x="9207910" y="10757083"/>
            <a:ext cx="11952505" cy="1162313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9" name="var_Content"/>
          <p:cNvSpPr txBox="1"/>
          <p:nvPr/>
        </p:nvSpPr>
        <p:spPr>
          <a:xfrm>
            <a:off x="9207910" y="11781211"/>
            <a:ext cx="11952505" cy="1059901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0" name="var_Position_wise_Feed_Forward_Networks"/>
          <p:cNvSpPr txBox="1"/>
          <p:nvPr/>
        </p:nvSpPr>
        <p:spPr>
          <a:xfrm>
            <a:off x="9207910" y="22489950"/>
            <a:ext cx="11952505" cy="356073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1" name="var_Content"/>
          <p:cNvSpPr txBox="1"/>
          <p:nvPr/>
        </p:nvSpPr>
        <p:spPr>
          <a:xfrm>
            <a:off x="9207910" y="23514078"/>
            <a:ext cx="11952505" cy="253660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2" name="var_Embeddings_and_Softmax"/>
          <p:cNvSpPr txBox="1"/>
          <p:nvPr/>
        </p:nvSpPr>
        <p:spPr>
          <a:xfrm>
            <a:off x="0" y="26160414"/>
            <a:ext cx="11500367" cy="6757985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3" name="var_Content"/>
          <p:cNvSpPr txBox="1"/>
          <p:nvPr/>
        </p:nvSpPr>
        <p:spPr>
          <a:xfrm>
            <a:off x="0" y="27184542"/>
            <a:ext cx="11500367" cy="5733857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4" name="var_Positional_Encoding"/>
          <p:cNvSpPr txBox="1"/>
          <p:nvPr/>
        </p:nvSpPr>
        <p:spPr>
          <a:xfrm>
            <a:off x="11500367" y="26160414"/>
            <a:ext cx="9660048" cy="6757985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5" name="var_Content"/>
          <p:cNvSpPr txBox="1"/>
          <p:nvPr/>
        </p:nvSpPr>
        <p:spPr>
          <a:xfrm>
            <a:off x="11500367" y="27184542"/>
            <a:ext cx="9660048" cy="5733857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6" name="var_Why_Self_Attention"/>
          <p:cNvSpPr txBox="1"/>
          <p:nvPr/>
        </p:nvSpPr>
        <p:spPr>
          <a:xfrm>
            <a:off x="21160415" y="4577852"/>
            <a:ext cx="8164717" cy="11409534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7" name="var_Content"/>
          <p:cNvSpPr txBox="1"/>
          <p:nvPr/>
        </p:nvSpPr>
        <p:spPr>
          <a:xfrm>
            <a:off x="21160415" y="5894588"/>
            <a:ext cx="8164717" cy="1009279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8" name="var_Training"/>
          <p:cNvSpPr txBox="1"/>
          <p:nvPr/>
        </p:nvSpPr>
        <p:spPr>
          <a:xfrm>
            <a:off x="21160415" y="15987386"/>
            <a:ext cx="8164717" cy="16931013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9" name="var_Training_Data_and_Batching"/>
          <p:cNvSpPr txBox="1"/>
          <p:nvPr/>
        </p:nvSpPr>
        <p:spPr>
          <a:xfrm>
            <a:off x="21160415" y="17304122"/>
            <a:ext cx="8164717" cy="388612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0" name="var_Content"/>
          <p:cNvSpPr txBox="1"/>
          <p:nvPr/>
        </p:nvSpPr>
        <p:spPr>
          <a:xfrm>
            <a:off x="21160415" y="19048340"/>
            <a:ext cx="8164717" cy="214190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1" name="var_Hardware_and_Schedule"/>
          <p:cNvSpPr txBox="1"/>
          <p:nvPr/>
        </p:nvSpPr>
        <p:spPr>
          <a:xfrm>
            <a:off x="21160415" y="21299974"/>
            <a:ext cx="8164717" cy="385605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2" name="var_Content"/>
          <p:cNvSpPr txBox="1"/>
          <p:nvPr/>
        </p:nvSpPr>
        <p:spPr>
          <a:xfrm>
            <a:off x="21160415" y="22324102"/>
            <a:ext cx="8164717" cy="283192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3" name="var_Optimizer"/>
          <p:cNvSpPr txBox="1"/>
          <p:nvPr/>
        </p:nvSpPr>
        <p:spPr>
          <a:xfrm>
            <a:off x="21160415" y="25265753"/>
            <a:ext cx="8164717" cy="381393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4" name="var_Content"/>
          <p:cNvSpPr txBox="1"/>
          <p:nvPr/>
        </p:nvSpPr>
        <p:spPr>
          <a:xfrm>
            <a:off x="21160415" y="26289881"/>
            <a:ext cx="8164717" cy="278980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5" name="var_Regularization"/>
          <p:cNvSpPr txBox="1"/>
          <p:nvPr/>
        </p:nvSpPr>
        <p:spPr>
          <a:xfrm>
            <a:off x="21160415" y="29189413"/>
            <a:ext cx="8164717" cy="372898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6" name="var_Content"/>
          <p:cNvSpPr txBox="1"/>
          <p:nvPr/>
        </p:nvSpPr>
        <p:spPr>
          <a:xfrm>
            <a:off x="21160415" y="30213541"/>
            <a:ext cx="8164717" cy="270485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7" name="var_Results"/>
          <p:cNvSpPr txBox="1"/>
          <p:nvPr/>
        </p:nvSpPr>
        <p:spPr>
          <a:xfrm>
            <a:off x="29325133" y="4577852"/>
            <a:ext cx="14566066" cy="23532411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8" name="var_Machine_Translation"/>
          <p:cNvSpPr txBox="1"/>
          <p:nvPr/>
        </p:nvSpPr>
        <p:spPr>
          <a:xfrm>
            <a:off x="29325133" y="5894588"/>
            <a:ext cx="14566066" cy="9652265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9" name="var_Content"/>
          <p:cNvSpPr txBox="1"/>
          <p:nvPr/>
        </p:nvSpPr>
        <p:spPr>
          <a:xfrm>
            <a:off x="29325133" y="6918716"/>
            <a:ext cx="14566066" cy="8628137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0" name="var_Model_Variations"/>
          <p:cNvSpPr txBox="1"/>
          <p:nvPr/>
        </p:nvSpPr>
        <p:spPr>
          <a:xfrm>
            <a:off x="29325133" y="15656581"/>
            <a:ext cx="14566066" cy="1245368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1" name="var_Content"/>
          <p:cNvSpPr txBox="1"/>
          <p:nvPr/>
        </p:nvSpPr>
        <p:spPr>
          <a:xfrm>
            <a:off x="29325133" y="16680709"/>
            <a:ext cx="14566066" cy="1142955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2" name="var_Conclusion"/>
          <p:cNvSpPr txBox="1"/>
          <p:nvPr/>
        </p:nvSpPr>
        <p:spPr>
          <a:xfrm>
            <a:off x="29325133" y="28110263"/>
            <a:ext cx="14566066" cy="4808136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3" name="var_Content"/>
          <p:cNvSpPr txBox="1"/>
          <p:nvPr/>
        </p:nvSpPr>
        <p:spPr>
          <a:xfrm>
            <a:off x="29325133" y="29426999"/>
            <a:ext cx="14566066" cy="349140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4" name="p_Title__t0"/>
          <p:cNvSpPr txBox="1"/>
          <p:nvPr/>
        </p:nvSpPr>
        <p:spPr>
          <a:xfrm>
            <a:off x="0" y="0"/>
            <a:ext cx="43891200" cy="2002506"/>
          </a:xfrm>
          <a:prstGeom prst="rect">
            <a:avLst/>
          </a:prstGeom>
          <a:solidFill>
            <a:srgbClr val="3F5693"/>
          </a:solidFill>
        </p:spPr>
        <p:txBody>
          <a:bodyPr wrap="square" tIns="508000" bIns="127000" lIns="190500" rIns="63500">
            <a:noAutofit/>
          </a:bodyPr>
          <a:lstStyle/>
          <a:p/>
          <a:p>
            <a:pPr algn="ctr">
              <a:defRPr sz="60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Attention Is All You Need</a:t>
            </a:r>
          </a:p>
        </p:txBody>
      </p:sp>
      <p:sp>
        <p:nvSpPr>
          <p:cNvPr id="35" name="p_Title__t1"/>
          <p:cNvSpPr txBox="1"/>
          <p:nvPr/>
        </p:nvSpPr>
        <p:spPr>
          <a:xfrm>
            <a:off x="0" y="2002506"/>
            <a:ext cx="43891200" cy="2355889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ctr">
              <a:defRPr sz="4000">
                <a:latin typeface="Arial"/>
              </a:defRPr>
            </a:pPr>
            <a:r>
              <a:rPr b="0" i="0">
                <a:solidFill>
                  <a:srgbClr val="FFFFFF"/>
                </a:solidFill>
              </a:rPr>
              <a:t>Ashish Vaswani¹, Noam Shazeer¹, Niki Parmar¹, Jakob Uszkoreit¹, Llion Jones¹, Aidan N. Gomez¹, Lukasz Kaiser¹, Illia Polosukhin¹</a:t>
            </a:r>
          </a:p>
          <a:p>
            <a:pPr algn="ctr">
              <a:defRPr sz="4000">
                <a:latin typeface="Arial"/>
              </a:defRPr>
            </a:pPr>
            <a:r>
              <a:rPr b="0" i="0">
                <a:solidFill>
                  <a:srgbClr val="FFFFFF"/>
                </a:solidFill>
              </a:rPr>
              <a:t>Google Brain¹, Google Research¹</a:t>
            </a:r>
          </a:p>
        </p:txBody>
      </p:sp>
      <p:sp>
        <p:nvSpPr>
          <p:cNvPr id="36" name="p_Introduction__title"/>
          <p:cNvSpPr txBox="1"/>
          <p:nvPr/>
        </p:nvSpPr>
        <p:spPr>
          <a:xfrm>
            <a:off x="219456" y="4797308"/>
            <a:ext cx="20721503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7" name="p_Content__body"/>
          <p:cNvSpPr txBox="1"/>
          <p:nvPr/>
        </p:nvSpPr>
        <p:spPr>
          <a:xfrm>
            <a:off x="219456" y="6114044"/>
            <a:ext cx="20721503" cy="2960543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Proposed the Transformer: a fully attention-based architecture.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Eliminates recurrence and convolutions.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Uses self-attention for parallel sequence modeling.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Enables faster training and superior translation quality.</a:t>
            </a:r>
          </a:p>
        </p:txBody>
      </p:sp>
      <p:sp>
        <p:nvSpPr>
          <p:cNvPr id="38" name="p_Model_Architecture__title"/>
          <p:cNvSpPr txBox="1"/>
          <p:nvPr/>
        </p:nvSpPr>
        <p:spPr>
          <a:xfrm>
            <a:off x="219456" y="9659803"/>
            <a:ext cx="20721503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39" name="p_Encoder_and_Decoder_Stacks__title"/>
          <p:cNvSpPr txBox="1"/>
          <p:nvPr/>
        </p:nvSpPr>
        <p:spPr>
          <a:xfrm>
            <a:off x="219456" y="10757083"/>
            <a:ext cx="8768998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Encoder and Decoder Stacks</a:t>
            </a:r>
          </a:p>
        </p:txBody>
      </p:sp>
      <p:sp>
        <p:nvSpPr>
          <p:cNvPr id="40" name="p_Content__body"/>
          <p:cNvSpPr txBox="1"/>
          <p:nvPr/>
        </p:nvSpPr>
        <p:spPr>
          <a:xfrm>
            <a:off x="219456" y="24221886"/>
            <a:ext cx="8768998" cy="146304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Encoder and decoder each use six identical layers.</a:t>
            </a:r>
          </a:p>
        </p:txBody>
      </p:sp>
      <p:sp>
        <p:nvSpPr>
          <p:cNvPr id="41" name="p_Attention__title"/>
          <p:cNvSpPr txBox="1"/>
          <p:nvPr/>
        </p:nvSpPr>
        <p:spPr>
          <a:xfrm>
            <a:off x="9427366" y="10757083"/>
            <a:ext cx="11513593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Attention</a:t>
            </a:r>
          </a:p>
        </p:txBody>
      </p:sp>
      <p:sp>
        <p:nvSpPr>
          <p:cNvPr id="42" name="p_Content__body"/>
          <p:cNvSpPr txBox="1"/>
          <p:nvPr/>
        </p:nvSpPr>
        <p:spPr>
          <a:xfrm>
            <a:off x="9427366" y="18610362"/>
            <a:ext cx="11513593" cy="3404099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Scaled dot-product attention enables efficient, dynamic weighting of input sequences.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Computes weights via query-key compatibility.</a:t>
            </a:r>
          </a:p>
        </p:txBody>
      </p:sp>
      <p:sp>
        <p:nvSpPr>
          <p:cNvPr id="43" name="p_Position_wise_Feed_Forward_Networks__title"/>
          <p:cNvSpPr txBox="1"/>
          <p:nvPr/>
        </p:nvSpPr>
        <p:spPr>
          <a:xfrm>
            <a:off x="9427366" y="22489950"/>
            <a:ext cx="11513593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Position-wise Feed-Forward Networks</a:t>
            </a:r>
          </a:p>
        </p:txBody>
      </p:sp>
      <p:sp>
        <p:nvSpPr>
          <p:cNvPr id="44" name="p_Content__body"/>
          <p:cNvSpPr txBox="1"/>
          <p:nvPr/>
        </p:nvSpPr>
        <p:spPr>
          <a:xfrm>
            <a:off x="9427366" y="23623806"/>
            <a:ext cx="11513593" cy="206112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Position-wise feed-forward network processes each token independently.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Two linear layers with ReLU activation.</a:t>
            </a:r>
          </a:p>
        </p:txBody>
      </p:sp>
      <p:sp>
        <p:nvSpPr>
          <p:cNvPr id="45" name="p_Embeddings_and_Softmax__title"/>
          <p:cNvSpPr txBox="1"/>
          <p:nvPr/>
        </p:nvSpPr>
        <p:spPr>
          <a:xfrm>
            <a:off x="219456" y="26160414"/>
            <a:ext cx="11061455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Embeddings and Softmax</a:t>
            </a:r>
          </a:p>
        </p:txBody>
      </p:sp>
      <p:sp>
        <p:nvSpPr>
          <p:cNvPr id="46" name="p_Content__body"/>
          <p:cNvSpPr txBox="1"/>
          <p:nvPr/>
        </p:nvSpPr>
        <p:spPr>
          <a:xfrm>
            <a:off x="219456" y="27294270"/>
            <a:ext cx="11061455" cy="5258369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Shared embedding matrices improve parameter efficiency and representation consistency.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Reduces trainable parameters by half via weight tying.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Softmax ensures probabilistic output with valid token distributions.</a:t>
            </a:r>
          </a:p>
        </p:txBody>
      </p:sp>
      <p:sp>
        <p:nvSpPr>
          <p:cNvPr id="47" name="p_Positional_Encoding__title"/>
          <p:cNvSpPr txBox="1"/>
          <p:nvPr/>
        </p:nvSpPr>
        <p:spPr>
          <a:xfrm>
            <a:off x="11719823" y="26160414"/>
            <a:ext cx="9221136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Positional Encoding</a:t>
            </a:r>
          </a:p>
        </p:txBody>
      </p:sp>
      <p:sp>
        <p:nvSpPr>
          <p:cNvPr id="48" name="p_Content__body"/>
          <p:cNvSpPr txBox="1"/>
          <p:nvPr/>
        </p:nvSpPr>
        <p:spPr>
          <a:xfrm>
            <a:off x="11719823" y="27294270"/>
            <a:ext cx="9221136" cy="5258369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Uses sinusoidal positional encodings to inject token position information.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Added to input embeddings directly.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Enables generalization to longer sequences than seen in training.</a:t>
            </a:r>
          </a:p>
        </p:txBody>
      </p:sp>
      <p:sp>
        <p:nvSpPr>
          <p:cNvPr id="49" name="p_Why_Self_Attention__title"/>
          <p:cNvSpPr txBox="1"/>
          <p:nvPr/>
        </p:nvSpPr>
        <p:spPr>
          <a:xfrm>
            <a:off x="21379871" y="4797308"/>
            <a:ext cx="7725805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Why Self-Attention</a:t>
            </a:r>
          </a:p>
        </p:txBody>
      </p:sp>
      <p:sp>
        <p:nvSpPr>
          <p:cNvPr id="50" name="p_Content__body"/>
          <p:cNvSpPr txBox="1"/>
          <p:nvPr/>
        </p:nvSpPr>
        <p:spPr>
          <a:xfrm>
            <a:off x="21379871" y="7883582"/>
            <a:ext cx="7725805" cy="773804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Self-attention enables full parallelization across input tokens.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Achieves constant path length of one between any tokens.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Outperforms recurrent and conv layers in long-range dependency capture.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Processes all tokens simultaneously.</a:t>
            </a:r>
          </a:p>
        </p:txBody>
      </p:sp>
      <p:sp>
        <p:nvSpPr>
          <p:cNvPr id="51" name="p_Training__title"/>
          <p:cNvSpPr txBox="1"/>
          <p:nvPr/>
        </p:nvSpPr>
        <p:spPr>
          <a:xfrm>
            <a:off x="21379871" y="16206842"/>
            <a:ext cx="7725805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52" name="p_Training_Data_and_Batching__title"/>
          <p:cNvSpPr txBox="1"/>
          <p:nvPr/>
        </p:nvSpPr>
        <p:spPr>
          <a:xfrm>
            <a:off x="21379871" y="17304122"/>
            <a:ext cx="7725805" cy="152476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Training Data and Batching</a:t>
            </a:r>
          </a:p>
        </p:txBody>
      </p:sp>
      <p:sp>
        <p:nvSpPr>
          <p:cNvPr id="53" name="p_Content__body"/>
          <p:cNvSpPr txBox="1"/>
          <p:nvPr/>
        </p:nvSpPr>
        <p:spPr>
          <a:xfrm>
            <a:off x="21379871" y="19158068"/>
            <a:ext cx="7725805" cy="166641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Trained on WMT 2014 corpus with BPE tokenization.</a:t>
            </a:r>
          </a:p>
        </p:txBody>
      </p:sp>
      <p:sp>
        <p:nvSpPr>
          <p:cNvPr id="54" name="p_Hardware_and_Schedule__title"/>
          <p:cNvSpPr txBox="1"/>
          <p:nvPr/>
        </p:nvSpPr>
        <p:spPr>
          <a:xfrm>
            <a:off x="21379871" y="21299974"/>
            <a:ext cx="7725805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Hardware and Schedule</a:t>
            </a:r>
          </a:p>
        </p:txBody>
      </p:sp>
      <p:sp>
        <p:nvSpPr>
          <p:cNvPr id="55" name="p_Content__body"/>
          <p:cNvSpPr txBox="1"/>
          <p:nvPr/>
        </p:nvSpPr>
        <p:spPr>
          <a:xfrm>
            <a:off x="21379871" y="22433830"/>
            <a:ext cx="7725805" cy="235643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Trained on 8 NVIDIA P100 GPUs with distributed computation.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12 hours for 100,000 steps.</a:t>
            </a:r>
          </a:p>
        </p:txBody>
      </p:sp>
      <p:sp>
        <p:nvSpPr>
          <p:cNvPr id="56" name="p_Optimizer__title"/>
          <p:cNvSpPr txBox="1"/>
          <p:nvPr/>
        </p:nvSpPr>
        <p:spPr>
          <a:xfrm>
            <a:off x="21379871" y="25265753"/>
            <a:ext cx="7725805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Optimizer</a:t>
            </a:r>
          </a:p>
        </p:txBody>
      </p:sp>
      <p:sp>
        <p:nvSpPr>
          <p:cNvPr id="57" name="p_Content__body"/>
          <p:cNvSpPr txBox="1"/>
          <p:nvPr/>
        </p:nvSpPr>
        <p:spPr>
          <a:xfrm>
            <a:off x="21379871" y="26399609"/>
            <a:ext cx="7725805" cy="231431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Adam uses adaptive gradients and dynamic learning rate.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Warmup: 4,000 steps linearly.</a:t>
            </a:r>
          </a:p>
        </p:txBody>
      </p:sp>
      <p:sp>
        <p:nvSpPr>
          <p:cNvPr id="58" name="p_Regularization__title"/>
          <p:cNvSpPr txBox="1"/>
          <p:nvPr/>
        </p:nvSpPr>
        <p:spPr>
          <a:xfrm>
            <a:off x="21379871" y="29189413"/>
            <a:ext cx="7725805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Regularization</a:t>
            </a:r>
          </a:p>
        </p:txBody>
      </p:sp>
      <p:sp>
        <p:nvSpPr>
          <p:cNvPr id="59" name="p_Content__body"/>
          <p:cNvSpPr txBox="1"/>
          <p:nvPr/>
        </p:nvSpPr>
        <p:spPr>
          <a:xfrm>
            <a:off x="21379871" y="30323269"/>
            <a:ext cx="7725805" cy="222937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Residual dropout stabilizes training by randomly dropping residual connections.</a:t>
            </a:r>
          </a:p>
        </p:txBody>
      </p:sp>
      <p:sp>
        <p:nvSpPr>
          <p:cNvPr id="60" name="p_Results__title"/>
          <p:cNvSpPr txBox="1"/>
          <p:nvPr/>
        </p:nvSpPr>
        <p:spPr>
          <a:xfrm>
            <a:off x="29544589" y="4797308"/>
            <a:ext cx="14127154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1" name="p_Machine_Translation__title"/>
          <p:cNvSpPr txBox="1"/>
          <p:nvPr/>
        </p:nvSpPr>
        <p:spPr>
          <a:xfrm>
            <a:off x="29544589" y="5894588"/>
            <a:ext cx="14127154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Machine Translation</a:t>
            </a:r>
          </a:p>
        </p:txBody>
      </p:sp>
      <p:sp>
        <p:nvSpPr>
          <p:cNvPr id="62" name="p_Content__body"/>
          <p:cNvSpPr txBox="1"/>
          <p:nvPr/>
        </p:nvSpPr>
        <p:spPr>
          <a:xfrm>
            <a:off x="29544589" y="13217684"/>
            <a:ext cx="14127154" cy="196340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Transformer achieves 28.4 BLEU on English-to-German translation.</a:t>
            </a:r>
          </a:p>
        </p:txBody>
      </p:sp>
      <p:sp>
        <p:nvSpPr>
          <p:cNvPr id="63" name="p_Model_Variations__title"/>
          <p:cNvSpPr txBox="1"/>
          <p:nvPr/>
        </p:nvSpPr>
        <p:spPr>
          <a:xfrm>
            <a:off x="29544589" y="15656581"/>
            <a:ext cx="14127154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Model Variations</a:t>
            </a:r>
          </a:p>
        </p:txBody>
      </p:sp>
      <p:sp>
        <p:nvSpPr>
          <p:cNvPr id="64" name="p_Content__body"/>
          <p:cNvSpPr txBox="1"/>
          <p:nvPr/>
        </p:nvSpPr>
        <p:spPr>
          <a:xfrm>
            <a:off x="29544589" y="26009466"/>
            <a:ext cx="14127154" cy="1735037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Multi-head attention enhances representation learning by focusing on input subspaces.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Larger models and optimal dropout boost accuracy.</a:t>
            </a:r>
          </a:p>
        </p:txBody>
      </p:sp>
      <p:sp>
        <p:nvSpPr>
          <p:cNvPr id="65" name="p_Conclusion__title"/>
          <p:cNvSpPr txBox="1"/>
          <p:nvPr/>
        </p:nvSpPr>
        <p:spPr>
          <a:xfrm>
            <a:off x="29544589" y="28329719"/>
            <a:ext cx="14127154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6" name="p_Content__body"/>
          <p:cNvSpPr txBox="1"/>
          <p:nvPr/>
        </p:nvSpPr>
        <p:spPr>
          <a:xfrm>
            <a:off x="29544589" y="29646455"/>
            <a:ext cx="14127154" cy="290618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Transformer replaces RNNs and CNNs with pure attention-based architecture.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Enables fully parallelizable training.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Achieves state-of-the-art accuracy in machine translation.</a:t>
            </a:r>
          </a:p>
        </p:txBody>
      </p:sp>
      <p:pic>
        <p:nvPicPr>
          <p:cNvPr id="67" name="p_Content__f0" descr="2017_NIPS-figur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59" y="11890939"/>
            <a:ext cx="8340790" cy="12111491"/>
          </a:xfrm>
          <a:prstGeom prst="rect">
            <a:avLst/>
          </a:prstGeom>
        </p:spPr>
      </p:pic>
      <p:pic>
        <p:nvPicPr>
          <p:cNvPr id="68" name="p_Content__f0" descr="2017_NIPS-figur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366" y="11890939"/>
            <a:ext cx="11513593" cy="6499966"/>
          </a:xfrm>
          <a:prstGeom prst="rect">
            <a:avLst/>
          </a:prstGeom>
        </p:spPr>
      </p:pic>
      <p:pic>
        <p:nvPicPr>
          <p:cNvPr id="69" name="p_Content__f0" descr="2017_NIPS-tabl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9871" y="6114044"/>
            <a:ext cx="7725805" cy="1550082"/>
          </a:xfrm>
          <a:prstGeom prst="rect">
            <a:avLst/>
          </a:prstGeom>
        </p:spPr>
      </p:pic>
      <p:pic>
        <p:nvPicPr>
          <p:cNvPr id="70" name="p_Content__f0" descr="2017_NIPS-tabl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4589" y="7028444"/>
            <a:ext cx="14127154" cy="5969784"/>
          </a:xfrm>
          <a:prstGeom prst="rect">
            <a:avLst/>
          </a:prstGeom>
        </p:spPr>
      </p:pic>
      <p:pic>
        <p:nvPicPr>
          <p:cNvPr id="71" name="p_Content__f0" descr="2017_NIPS-table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44589" y="16790437"/>
            <a:ext cx="14127154" cy="89995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