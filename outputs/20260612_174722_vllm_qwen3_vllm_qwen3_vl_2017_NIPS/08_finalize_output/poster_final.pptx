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ar_Title"/>
          <p:cNvSpPr txBox="1"/>
          <p:nvPr/>
        </p:nvSpPr>
        <p:spPr>
          <a:xfrm>
            <a:off x="0" y="0"/>
            <a:ext cx="32918400" cy="6114044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" name="var_Introduction"/>
          <p:cNvSpPr txBox="1"/>
          <p:nvPr/>
        </p:nvSpPr>
        <p:spPr>
          <a:xfrm>
            <a:off x="0" y="6114044"/>
            <a:ext cx="20942911" cy="5666573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4" name="var_Content"/>
          <p:cNvSpPr txBox="1"/>
          <p:nvPr/>
        </p:nvSpPr>
        <p:spPr>
          <a:xfrm>
            <a:off x="0" y="7430780"/>
            <a:ext cx="20942911" cy="4349837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5" name="var_Model_Architecture"/>
          <p:cNvSpPr txBox="1"/>
          <p:nvPr/>
        </p:nvSpPr>
        <p:spPr>
          <a:xfrm>
            <a:off x="0" y="11780617"/>
            <a:ext cx="20942911" cy="24883977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6" name="var_Encoder_and_Decoder_Stacks"/>
          <p:cNvSpPr txBox="1"/>
          <p:nvPr/>
        </p:nvSpPr>
        <p:spPr>
          <a:xfrm>
            <a:off x="0" y="13097353"/>
            <a:ext cx="9194313" cy="18276491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7" name="var_Content"/>
          <p:cNvSpPr txBox="1"/>
          <p:nvPr/>
        </p:nvSpPr>
        <p:spPr>
          <a:xfrm>
            <a:off x="0" y="14121481"/>
            <a:ext cx="9194313" cy="17252363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8" name="var_Attention"/>
          <p:cNvSpPr txBox="1"/>
          <p:nvPr/>
        </p:nvSpPr>
        <p:spPr>
          <a:xfrm>
            <a:off x="9194313" y="13097353"/>
            <a:ext cx="11748597" cy="1263271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9" name="var_Content"/>
          <p:cNvSpPr txBox="1"/>
          <p:nvPr/>
        </p:nvSpPr>
        <p:spPr>
          <a:xfrm>
            <a:off x="9194313" y="14121481"/>
            <a:ext cx="11748597" cy="1160858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0" name="var_Position_wise_Feed_Forward_Networks"/>
          <p:cNvSpPr txBox="1"/>
          <p:nvPr/>
        </p:nvSpPr>
        <p:spPr>
          <a:xfrm>
            <a:off x="9194313" y="25839792"/>
            <a:ext cx="11748597" cy="553405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1" name="var_Content"/>
          <p:cNvSpPr txBox="1"/>
          <p:nvPr/>
        </p:nvSpPr>
        <p:spPr>
          <a:xfrm>
            <a:off x="9194313" y="27584010"/>
            <a:ext cx="11748597" cy="378983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2" name="var_Embeddings_and_Softmax"/>
          <p:cNvSpPr txBox="1"/>
          <p:nvPr/>
        </p:nvSpPr>
        <p:spPr>
          <a:xfrm>
            <a:off x="0" y="31483572"/>
            <a:ext cx="10294201" cy="518102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3" name="var_Content"/>
          <p:cNvSpPr txBox="1"/>
          <p:nvPr/>
        </p:nvSpPr>
        <p:spPr>
          <a:xfrm>
            <a:off x="0" y="32507700"/>
            <a:ext cx="10294201" cy="415689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4" name="var_Positional_Encoding"/>
          <p:cNvSpPr txBox="1"/>
          <p:nvPr/>
        </p:nvSpPr>
        <p:spPr>
          <a:xfrm>
            <a:off x="10294201" y="31483572"/>
            <a:ext cx="10648710" cy="518102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5" name="var_Content"/>
          <p:cNvSpPr txBox="1"/>
          <p:nvPr/>
        </p:nvSpPr>
        <p:spPr>
          <a:xfrm>
            <a:off x="10294201" y="32507700"/>
            <a:ext cx="10648710" cy="415689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6" name="var_Why_Self_Attention"/>
          <p:cNvSpPr txBox="1"/>
          <p:nvPr/>
        </p:nvSpPr>
        <p:spPr>
          <a:xfrm>
            <a:off x="0" y="36664595"/>
            <a:ext cx="20942911" cy="7226604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7" name="var_Content"/>
          <p:cNvSpPr txBox="1"/>
          <p:nvPr/>
        </p:nvSpPr>
        <p:spPr>
          <a:xfrm>
            <a:off x="0" y="37981331"/>
            <a:ext cx="20942911" cy="590986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8" name="var_Training"/>
          <p:cNvSpPr txBox="1"/>
          <p:nvPr/>
        </p:nvSpPr>
        <p:spPr>
          <a:xfrm>
            <a:off x="20942911" y="6114044"/>
            <a:ext cx="11975488" cy="10681925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19" name="var_Training_Data_and_Batching"/>
          <p:cNvSpPr txBox="1"/>
          <p:nvPr/>
        </p:nvSpPr>
        <p:spPr>
          <a:xfrm>
            <a:off x="20942911" y="7430780"/>
            <a:ext cx="6041371" cy="466550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0" name="var_Content"/>
          <p:cNvSpPr txBox="1"/>
          <p:nvPr/>
        </p:nvSpPr>
        <p:spPr>
          <a:xfrm>
            <a:off x="20942911" y="9174998"/>
            <a:ext cx="6041371" cy="292128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1" name="var_Hardware_and_Schedule"/>
          <p:cNvSpPr txBox="1"/>
          <p:nvPr/>
        </p:nvSpPr>
        <p:spPr>
          <a:xfrm>
            <a:off x="26984283" y="7430780"/>
            <a:ext cx="5934116" cy="466550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2" name="var_Content"/>
          <p:cNvSpPr txBox="1"/>
          <p:nvPr/>
        </p:nvSpPr>
        <p:spPr>
          <a:xfrm>
            <a:off x="26984283" y="9174998"/>
            <a:ext cx="5934116" cy="292128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3" name="var_Optimizer"/>
          <p:cNvSpPr txBox="1"/>
          <p:nvPr/>
        </p:nvSpPr>
        <p:spPr>
          <a:xfrm>
            <a:off x="20942911" y="12206008"/>
            <a:ext cx="5910308" cy="458996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4" name="var_Content"/>
          <p:cNvSpPr txBox="1"/>
          <p:nvPr/>
        </p:nvSpPr>
        <p:spPr>
          <a:xfrm>
            <a:off x="20942911" y="13230136"/>
            <a:ext cx="5910308" cy="356583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5" name="var_Regularization"/>
          <p:cNvSpPr txBox="1"/>
          <p:nvPr/>
        </p:nvSpPr>
        <p:spPr>
          <a:xfrm>
            <a:off x="26853219" y="12206008"/>
            <a:ext cx="6065180" cy="458996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6" name="var_Content"/>
          <p:cNvSpPr txBox="1"/>
          <p:nvPr/>
        </p:nvSpPr>
        <p:spPr>
          <a:xfrm>
            <a:off x="26853219" y="13230136"/>
            <a:ext cx="6065180" cy="356583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7" name="var_Results"/>
          <p:cNvSpPr txBox="1"/>
          <p:nvPr/>
        </p:nvSpPr>
        <p:spPr>
          <a:xfrm>
            <a:off x="20942911" y="16795969"/>
            <a:ext cx="11975488" cy="18930011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8" name="var_Machine_Translation"/>
          <p:cNvSpPr txBox="1"/>
          <p:nvPr/>
        </p:nvSpPr>
        <p:spPr>
          <a:xfrm>
            <a:off x="20942911" y="18112705"/>
            <a:ext cx="11975488" cy="695935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29" name="var_Content"/>
          <p:cNvSpPr txBox="1"/>
          <p:nvPr/>
        </p:nvSpPr>
        <p:spPr>
          <a:xfrm>
            <a:off x="20942911" y="19136833"/>
            <a:ext cx="11975488" cy="593522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0" name="var_Model_Variations"/>
          <p:cNvSpPr txBox="1"/>
          <p:nvPr/>
        </p:nvSpPr>
        <p:spPr>
          <a:xfrm>
            <a:off x="20942911" y="25181789"/>
            <a:ext cx="11975488" cy="10544191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1" name="var_Content"/>
          <p:cNvSpPr txBox="1"/>
          <p:nvPr/>
        </p:nvSpPr>
        <p:spPr>
          <a:xfrm>
            <a:off x="20942911" y="26205917"/>
            <a:ext cx="11975488" cy="9520063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2" name="var_Conclusion"/>
          <p:cNvSpPr txBox="1"/>
          <p:nvPr/>
        </p:nvSpPr>
        <p:spPr>
          <a:xfrm>
            <a:off x="20942911" y="35725981"/>
            <a:ext cx="11975488" cy="8165218"/>
          </a:xfrm>
          <a:prstGeom prst="rect">
            <a:avLst/>
          </a:prstGeom>
          <a:noFill/>
          <a:ln w="63500">
            <a:solidFill>
              <a:srgbClr val="FFFFFF"/>
            </a:solidFill>
            <a:prstDash val="solid"/>
          </a:ln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3" name="var_Content"/>
          <p:cNvSpPr txBox="1"/>
          <p:nvPr/>
        </p:nvSpPr>
        <p:spPr>
          <a:xfrm>
            <a:off x="20942911" y="37042717"/>
            <a:ext cx="11975488" cy="684848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/>
            <a:r>
              <a:rPr sz="4000" b="0" i="0">
                <a:latin typeface="Arial"/>
              </a:rPr>
              <a:t/>
            </a:r>
          </a:p>
        </p:txBody>
      </p:sp>
      <p:sp>
        <p:nvSpPr>
          <p:cNvPr id="34" name="p_Title__t0"/>
          <p:cNvSpPr txBox="1"/>
          <p:nvPr/>
        </p:nvSpPr>
        <p:spPr>
          <a:xfrm>
            <a:off x="0" y="0"/>
            <a:ext cx="32918400" cy="2708324"/>
          </a:xfrm>
          <a:prstGeom prst="rect">
            <a:avLst/>
          </a:prstGeom>
          <a:solidFill>
            <a:srgbClr val="3F5693"/>
          </a:solidFill>
        </p:spPr>
        <p:txBody>
          <a:bodyPr wrap="square" tIns="508000" bIns="127000" lIns="190500" rIns="63500">
            <a:noAutofit/>
          </a:bodyPr>
          <a:lstStyle/>
          <a:p/>
          <a:p>
            <a:pPr algn="ctr">
              <a:defRPr sz="60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Attention Is All You Need</a:t>
            </a:r>
          </a:p>
        </p:txBody>
      </p:sp>
      <p:sp>
        <p:nvSpPr>
          <p:cNvPr id="35" name="p_Title__t1"/>
          <p:cNvSpPr txBox="1"/>
          <p:nvPr/>
        </p:nvSpPr>
        <p:spPr>
          <a:xfrm>
            <a:off x="0" y="2708324"/>
            <a:ext cx="32918400" cy="3186263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ctr">
              <a:defRPr sz="4000">
                <a:latin typeface="Arial"/>
              </a:defRPr>
            </a:pPr>
            <a:r>
              <a:rPr b="0" i="0">
                <a:solidFill>
                  <a:srgbClr val="FFFFFF"/>
                </a:solidFill>
              </a:rPr>
              <a:t>Ashish Vaswani¹, Noam Shazeer¹, Niki Parmar¹, Jakob Uszkoreit¹, Llion Jones¹, Aidan N. Gomez¹, Lukasz Kaiser¹, Illia Polosukhin¹</a:t>
            </a:r>
          </a:p>
          <a:p>
            <a:pPr algn="ctr">
              <a:defRPr sz="4000">
                <a:latin typeface="Arial"/>
              </a:defRPr>
            </a:pPr>
            <a:r>
              <a:rPr b="0" i="0">
                <a:solidFill>
                  <a:srgbClr val="FFFFFF"/>
                </a:solidFill>
              </a:rPr>
              <a:t>Google Brain¹, Google Research¹</a:t>
            </a:r>
          </a:p>
        </p:txBody>
      </p:sp>
      <p:sp>
        <p:nvSpPr>
          <p:cNvPr id="36" name="p_Introduction__title"/>
          <p:cNvSpPr txBox="1"/>
          <p:nvPr/>
        </p:nvSpPr>
        <p:spPr>
          <a:xfrm>
            <a:off x="219456" y="6333500"/>
            <a:ext cx="20503999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7" name="p_Content__body"/>
          <p:cNvSpPr txBox="1"/>
          <p:nvPr/>
        </p:nvSpPr>
        <p:spPr>
          <a:xfrm>
            <a:off x="219456" y="7650236"/>
            <a:ext cx="20503999" cy="3764621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Transformer uses self-attention for full parallelization of sequence processing.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Eliminates sequential computation bottlenecks.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Achieves faster training and improved scalability for long sequences.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Maintains high translation quality.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Simplifies architecture by removing fixed-size context constraints.</a:t>
            </a:r>
          </a:p>
        </p:txBody>
      </p:sp>
      <p:sp>
        <p:nvSpPr>
          <p:cNvPr id="38" name="p_Model_Architecture__title"/>
          <p:cNvSpPr txBox="1"/>
          <p:nvPr/>
        </p:nvSpPr>
        <p:spPr>
          <a:xfrm>
            <a:off x="219456" y="12000073"/>
            <a:ext cx="20503999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39" name="p_Encoder_and_Decoder_Stacks__title"/>
          <p:cNvSpPr txBox="1"/>
          <p:nvPr/>
        </p:nvSpPr>
        <p:spPr>
          <a:xfrm>
            <a:off x="219456" y="13097353"/>
            <a:ext cx="8755401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Encoder and Decoder Stacks</a:t>
            </a:r>
          </a:p>
        </p:txBody>
      </p:sp>
      <p:sp>
        <p:nvSpPr>
          <p:cNvPr id="40" name="p_Content__body"/>
          <p:cNvSpPr txBox="1"/>
          <p:nvPr/>
        </p:nvSpPr>
        <p:spPr>
          <a:xfrm>
            <a:off x="219456" y="27164205"/>
            <a:ext cx="8755401" cy="3843879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Encoder and decoder each have six identical layers.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Each layer includes self-attention and feed-forward networks.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Residual connections and layer normalization enable stable training.</a:t>
            </a:r>
          </a:p>
        </p:txBody>
      </p:sp>
      <p:sp>
        <p:nvSpPr>
          <p:cNvPr id="41" name="p_Attention__title"/>
          <p:cNvSpPr txBox="1"/>
          <p:nvPr/>
        </p:nvSpPr>
        <p:spPr>
          <a:xfrm>
            <a:off x="9413769" y="13097353"/>
            <a:ext cx="11309685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Attention</a:t>
            </a:r>
          </a:p>
        </p:txBody>
      </p:sp>
      <p:sp>
        <p:nvSpPr>
          <p:cNvPr id="42" name="p_Content__body"/>
          <p:cNvSpPr txBox="1"/>
          <p:nvPr/>
        </p:nvSpPr>
        <p:spPr>
          <a:xfrm>
            <a:off x="9413769" y="20835517"/>
            <a:ext cx="11309685" cy="4528787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Attention enables dynamic focus on relevant input parts via weighted value sums.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Uses query-key compatibility to compute weights.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Replaces RNNs and convolutions in Transformer architecture.</a:t>
            </a:r>
          </a:p>
        </p:txBody>
      </p:sp>
      <p:sp>
        <p:nvSpPr>
          <p:cNvPr id="43" name="p_Position_wise_Feed_Forward_Networks__title"/>
          <p:cNvSpPr txBox="1"/>
          <p:nvPr/>
        </p:nvSpPr>
        <p:spPr>
          <a:xfrm>
            <a:off x="9413769" y="25839792"/>
            <a:ext cx="11309685" cy="152476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Position-wise Feed-Forward Networks</a:t>
            </a:r>
          </a:p>
        </p:txBody>
      </p:sp>
      <p:sp>
        <p:nvSpPr>
          <p:cNvPr id="44" name="p_Content__body"/>
          <p:cNvSpPr txBox="1"/>
          <p:nvPr/>
        </p:nvSpPr>
        <p:spPr>
          <a:xfrm>
            <a:off x="9413769" y="27693738"/>
            <a:ext cx="11309685" cy="331434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FFN enables non-linear processing at each sequence position.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Uses two linear layers with ReLU activation.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Implemented via efficient 1D convolutions for parallel processing.</a:t>
            </a:r>
          </a:p>
        </p:txBody>
      </p:sp>
      <p:sp>
        <p:nvSpPr>
          <p:cNvPr id="45" name="p_Embeddings_and_Softmax__title"/>
          <p:cNvSpPr txBox="1"/>
          <p:nvPr/>
        </p:nvSpPr>
        <p:spPr>
          <a:xfrm>
            <a:off x="219456" y="31483572"/>
            <a:ext cx="9855289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Embeddings and Softmax</a:t>
            </a:r>
          </a:p>
        </p:txBody>
      </p:sp>
      <p:sp>
        <p:nvSpPr>
          <p:cNvPr id="46" name="p_Content__body"/>
          <p:cNvSpPr txBox="1"/>
          <p:nvPr/>
        </p:nvSpPr>
        <p:spPr>
          <a:xfrm>
            <a:off x="219456" y="32617428"/>
            <a:ext cx="9855289" cy="368140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Input and output tokens embedded into 512D vectors.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Learned embedding matrices used.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Shared embedding and softmax weights reduce parameters.</a:t>
            </a:r>
          </a:p>
        </p:txBody>
      </p:sp>
      <p:sp>
        <p:nvSpPr>
          <p:cNvPr id="47" name="p_Positional_Encoding__title"/>
          <p:cNvSpPr txBox="1"/>
          <p:nvPr/>
        </p:nvSpPr>
        <p:spPr>
          <a:xfrm>
            <a:off x="10513657" y="31483572"/>
            <a:ext cx="10209798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Positional Encoding</a:t>
            </a:r>
          </a:p>
        </p:txBody>
      </p:sp>
      <p:sp>
        <p:nvSpPr>
          <p:cNvPr id="48" name="p_Content__body"/>
          <p:cNvSpPr txBox="1"/>
          <p:nvPr/>
        </p:nvSpPr>
        <p:spPr>
          <a:xfrm>
            <a:off x="10513657" y="32617428"/>
            <a:ext cx="10209798" cy="368140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Uses sinusoidal encodings to preserve sequence order.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Fixed, deterministic functions enable generalization.</a:t>
            </a:r>
          </a:p>
        </p:txBody>
      </p:sp>
      <p:sp>
        <p:nvSpPr>
          <p:cNvPr id="49" name="p_Why_Self_Attention__title"/>
          <p:cNvSpPr txBox="1"/>
          <p:nvPr/>
        </p:nvSpPr>
        <p:spPr>
          <a:xfrm>
            <a:off x="219456" y="36884051"/>
            <a:ext cx="20503999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Why Self-Attention</a:t>
            </a:r>
          </a:p>
        </p:txBody>
      </p:sp>
      <p:sp>
        <p:nvSpPr>
          <p:cNvPr id="50" name="p_Content__body"/>
          <p:cNvSpPr txBox="1"/>
          <p:nvPr/>
        </p:nvSpPr>
        <p:spPr>
          <a:xfrm>
            <a:off x="219456" y="41095061"/>
            <a:ext cx="20503999" cy="2430378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Enables constant path length between sequence positions.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Supports full parallelization in training and inference.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Models long-range dependencies via direct token interactions.</a:t>
            </a:r>
          </a:p>
        </p:txBody>
      </p:sp>
      <p:sp>
        <p:nvSpPr>
          <p:cNvPr id="51" name="p_Training__title"/>
          <p:cNvSpPr txBox="1"/>
          <p:nvPr/>
        </p:nvSpPr>
        <p:spPr>
          <a:xfrm>
            <a:off x="21162367" y="6333500"/>
            <a:ext cx="11536576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52" name="p_Training_Data_and_Batching__title"/>
          <p:cNvSpPr txBox="1"/>
          <p:nvPr/>
        </p:nvSpPr>
        <p:spPr>
          <a:xfrm>
            <a:off x="21162367" y="7430780"/>
            <a:ext cx="5602459" cy="152476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Training Data and Batching</a:t>
            </a:r>
          </a:p>
        </p:txBody>
      </p:sp>
      <p:sp>
        <p:nvSpPr>
          <p:cNvPr id="53" name="p_Content__body"/>
          <p:cNvSpPr txBox="1"/>
          <p:nvPr/>
        </p:nvSpPr>
        <p:spPr>
          <a:xfrm>
            <a:off x="21162367" y="9284726"/>
            <a:ext cx="5602459" cy="244579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Trained on WMT 2014 English-German and English-French datasets.</a:t>
            </a:r>
          </a:p>
        </p:txBody>
      </p:sp>
      <p:sp>
        <p:nvSpPr>
          <p:cNvPr id="54" name="p_Hardware_and_Schedule__title"/>
          <p:cNvSpPr txBox="1"/>
          <p:nvPr/>
        </p:nvSpPr>
        <p:spPr>
          <a:xfrm>
            <a:off x="27203739" y="7430780"/>
            <a:ext cx="5495204" cy="152476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Hardware and Schedule</a:t>
            </a:r>
          </a:p>
        </p:txBody>
      </p:sp>
      <p:sp>
        <p:nvSpPr>
          <p:cNvPr id="55" name="p_Content__body"/>
          <p:cNvSpPr txBox="1"/>
          <p:nvPr/>
        </p:nvSpPr>
        <p:spPr>
          <a:xfrm>
            <a:off x="27203739" y="9284726"/>
            <a:ext cx="5495204" cy="244579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Trained on eight NVIDIA P100 GPUs with parallel computation.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Base: 100K steps, ~12 hours.</a:t>
            </a:r>
          </a:p>
        </p:txBody>
      </p:sp>
      <p:sp>
        <p:nvSpPr>
          <p:cNvPr id="56" name="p_Optimizer__title"/>
          <p:cNvSpPr txBox="1"/>
          <p:nvPr/>
        </p:nvSpPr>
        <p:spPr>
          <a:xfrm>
            <a:off x="21162367" y="12206008"/>
            <a:ext cx="5471396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Optimizer</a:t>
            </a:r>
          </a:p>
        </p:txBody>
      </p:sp>
      <p:sp>
        <p:nvSpPr>
          <p:cNvPr id="57" name="p_Content__body"/>
          <p:cNvSpPr txBox="1"/>
          <p:nvPr/>
        </p:nvSpPr>
        <p:spPr>
          <a:xfrm>
            <a:off x="21162367" y="13339864"/>
            <a:ext cx="5471396" cy="309034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Adaptive learning rate with warm-up and decay ensured stable training.</a:t>
            </a:r>
          </a:p>
          <a:p>
            <a:pPr lvl="1" algn="l">
              <a:defRPr sz="3600">
                <a:latin typeface="Arial"/>
              </a:defRPr>
            </a:pPr>
            <a:r>
              <a:rPr b="0" i="0"/>
              <a:t>◦ Warm-up over 4,000 steps.</a:t>
            </a:r>
          </a:p>
        </p:txBody>
      </p:sp>
      <p:sp>
        <p:nvSpPr>
          <p:cNvPr id="58" name="p_Regularization__title"/>
          <p:cNvSpPr txBox="1"/>
          <p:nvPr/>
        </p:nvSpPr>
        <p:spPr>
          <a:xfrm>
            <a:off x="27072675" y="12206008"/>
            <a:ext cx="5626268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Regularization</a:t>
            </a:r>
          </a:p>
        </p:txBody>
      </p:sp>
      <p:sp>
        <p:nvSpPr>
          <p:cNvPr id="59" name="p_Content__body"/>
          <p:cNvSpPr txBox="1"/>
          <p:nvPr/>
        </p:nvSpPr>
        <p:spPr>
          <a:xfrm>
            <a:off x="27072675" y="13339864"/>
            <a:ext cx="5626268" cy="3090344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Enhanced regularization with dropout on sub-layer outputs and embeddings.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Improved generalization and reduced overfitting.</a:t>
            </a:r>
          </a:p>
        </p:txBody>
      </p:sp>
      <p:sp>
        <p:nvSpPr>
          <p:cNvPr id="60" name="p_Results__title"/>
          <p:cNvSpPr txBox="1"/>
          <p:nvPr/>
        </p:nvSpPr>
        <p:spPr>
          <a:xfrm>
            <a:off x="21162367" y="17015425"/>
            <a:ext cx="11536576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1" name="p_Machine_Translation__title"/>
          <p:cNvSpPr txBox="1"/>
          <p:nvPr/>
        </p:nvSpPr>
        <p:spPr>
          <a:xfrm>
            <a:off x="21162367" y="18112705"/>
            <a:ext cx="11536576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Machine Translation</a:t>
            </a:r>
          </a:p>
        </p:txBody>
      </p:sp>
      <p:sp>
        <p:nvSpPr>
          <p:cNvPr id="62" name="p_Content__body"/>
          <p:cNvSpPr txBox="1"/>
          <p:nvPr/>
        </p:nvSpPr>
        <p:spPr>
          <a:xfrm>
            <a:off x="21162367" y="23243261"/>
            <a:ext cx="11536576" cy="146304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Sets new SOTA BLEU scores: 28.4 (En-De), 41.0 (En-Fr).</a:t>
            </a:r>
          </a:p>
        </p:txBody>
      </p:sp>
      <p:sp>
        <p:nvSpPr>
          <p:cNvPr id="63" name="p_Model_Variations__title"/>
          <p:cNvSpPr txBox="1"/>
          <p:nvPr/>
        </p:nvSpPr>
        <p:spPr>
          <a:xfrm>
            <a:off x="21162367" y="25181789"/>
            <a:ext cx="11536576" cy="804672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200">
                <a:latin typeface="Arial"/>
              </a:defRPr>
            </a:pPr>
            <a:r>
              <a:rPr b="1" i="0">
                <a:solidFill>
                  <a:srgbClr val="203864"/>
                </a:solidFill>
              </a:rPr>
              <a:t>Model Variations</a:t>
            </a:r>
          </a:p>
        </p:txBody>
      </p:sp>
      <p:sp>
        <p:nvSpPr>
          <p:cNvPr id="64" name="p_Content__body"/>
          <p:cNvSpPr txBox="1"/>
          <p:nvPr/>
        </p:nvSpPr>
        <p:spPr>
          <a:xfrm>
            <a:off x="21162367" y="33884370"/>
            <a:ext cx="11536576" cy="1475850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Multi-head attention is essential for complex sequence modeling.</a:t>
            </a:r>
          </a:p>
        </p:txBody>
      </p:sp>
      <p:sp>
        <p:nvSpPr>
          <p:cNvPr id="65" name="p_Conclusion__title"/>
          <p:cNvSpPr txBox="1"/>
          <p:nvPr/>
        </p:nvSpPr>
        <p:spPr>
          <a:xfrm>
            <a:off x="21162367" y="35945437"/>
            <a:ext cx="11536576" cy="1097280"/>
          </a:xfrm>
          <a:prstGeom prst="rect">
            <a:avLst/>
          </a:prstGeom>
          <a:solidFill>
            <a:srgbClr val="3F5693"/>
          </a:solidFill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4800">
                <a:latin typeface="Arial"/>
              </a:defRPr>
            </a:pPr>
            <a:r>
              <a:rPr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6" name="p_Content__body"/>
          <p:cNvSpPr txBox="1"/>
          <p:nvPr/>
        </p:nvSpPr>
        <p:spPr>
          <a:xfrm>
            <a:off x="21162367" y="37262173"/>
            <a:ext cx="11536576" cy="6263266"/>
          </a:xfrm>
          <a:prstGeom prst="rect">
            <a:avLst/>
          </a:prstGeom>
          <a:noFill/>
        </p:spPr>
        <p:txBody>
          <a:bodyPr wrap="square" tIns="-63500" bIns="127000" lIns="190500" rIns="63500">
            <a:noAutofit/>
          </a:bodyPr>
          <a:lstStyle/>
          <a:p/>
          <a:p>
            <a:pPr algn="l">
              <a:defRPr sz="3600">
                <a:latin typeface="Arial"/>
              </a:defRPr>
            </a:pPr>
            <a:r>
              <a:rPr b="0" i="0"/>
              <a:t>• Transformer replaces recurrence and convolution with self-attention.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Achieves state-of-the-art translation quality with faster, parallel training.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Inspires models across NLP, vision, and multimodal tasks.</a:t>
            </a:r>
          </a:p>
          <a:p>
            <a:pPr algn="l">
              <a:defRPr sz="3600">
                <a:latin typeface="Arial"/>
              </a:defRPr>
            </a:pPr>
            <a:r>
              <a:rPr b="0" i="0"/>
              <a:t>• Attention, parallelization, and scalability are now foundational.</a:t>
            </a:r>
          </a:p>
        </p:txBody>
      </p:sp>
      <p:pic>
        <p:nvPicPr>
          <p:cNvPr id="67" name="p_Content__f0" descr="2017_NIPS-figur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4231209"/>
            <a:ext cx="8755401" cy="12713539"/>
          </a:xfrm>
          <a:prstGeom prst="rect">
            <a:avLst/>
          </a:prstGeom>
        </p:spPr>
      </p:pic>
      <p:pic>
        <p:nvPicPr>
          <p:cNvPr id="68" name="p_Content__f0" descr="2017_NIPS-figur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69" y="14231209"/>
            <a:ext cx="11309685" cy="6384851"/>
          </a:xfrm>
          <a:prstGeom prst="rect">
            <a:avLst/>
          </a:prstGeom>
        </p:spPr>
      </p:pic>
      <p:pic>
        <p:nvPicPr>
          <p:cNvPr id="69" name="p_Content__f0" descr="2017_NIPS-tabl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637" y="38200787"/>
            <a:ext cx="13331636" cy="2674818"/>
          </a:xfrm>
          <a:prstGeom prst="rect">
            <a:avLst/>
          </a:prstGeom>
        </p:spPr>
      </p:pic>
      <p:pic>
        <p:nvPicPr>
          <p:cNvPr id="70" name="p_Content__f0" descr="2017_NIPS-table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1339" y="19246561"/>
            <a:ext cx="8938633" cy="3777244"/>
          </a:xfrm>
          <a:prstGeom prst="rect">
            <a:avLst/>
          </a:prstGeom>
        </p:spPr>
      </p:pic>
      <p:pic>
        <p:nvPicPr>
          <p:cNvPr id="71" name="p_Content__f0" descr="2017_NIPS-table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2367" y="26315645"/>
            <a:ext cx="11536576" cy="7349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